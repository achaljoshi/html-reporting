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TSR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F5A52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SLA Met</c:v>
                </c:pt>
                <c:pt idx="1">
                  <c:v>SLA Overdue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193</c:v>
                </c:pt>
                <c:pt idx="1">
                  <c:v>24</c:v>
                </c:pt>
                <c:pt idx="2">
                  <c:v>38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EA5A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0EA5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EA5A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2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36192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PROGRAM  ·  EXECUTIVE DASHBOARD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Quality &amp; SLA Council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static slide deck to a live program cockpit — one dashboard, every portfolio, every month.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2073859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4B8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17720"/>
            <a:ext cx="20738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&amp; Secure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97987" y="4617720"/>
            <a:ext cx="3119933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4B8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7987" y="4617720"/>
            <a:ext cx="311993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Excel-Driven, Zero Manual Judgment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19088" y="4617720"/>
            <a:ext cx="1912925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4B8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4617720"/>
            <a:ext cx="19129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Click-to-Drill-Down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C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PREPARED FOR THE ATS ENTERPRISE COUNCIL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at This Scale Needs a Different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45,000+ person organization, 16+ live portfolios, and a contract where being late has a cost.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A5A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7432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45,000+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60120" y="38404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across the enterprise this program reports into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5146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264F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7432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709160" y="38404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testing portfolios, each with its own KPIs and TSR pipeline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25146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7432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days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458200" y="38404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SLA to respond to a Test Scope Request — miss it, and it's a breach with a fine attached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Program · Monthly Quality &amp; SLA Council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Slide Deck Can't Keep Up With a Program This Size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508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hides sixteen stories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program-wide SLA % can't show you which portfolio is actually at risk this month.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06624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6791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judgment calls on a fine-bearing metric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30449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"was this TSR late?" by eye, every month, for every portfolio, is exactly the kind of error a client audit will find.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77056"/>
            <a:ext cx="457200" cy="45720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8496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the moment it's exported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2153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screenshot from three days ago isn't "live" — and questions in the room can't be answered from 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47488"/>
            <a:ext cx="457200" cy="457200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50200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drill in, live, in the room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38581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client asks "why is that portfolio red?", flipping to another static slide isn't an answer.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Program · Monthly Quality &amp; SLA Council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0EA5A0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8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ATS Live Cockpit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interactive dashboard. Every portfolio, every KPI, every TSR — always current, fully offline, and click-through to the detail behind any number.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 No upload. No IT ticket. Three steps, every month.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" y="2414016"/>
            <a:ext cx="566928" cy="566928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6" name="Text 4"/>
          <p:cNvSpPr/>
          <p:nvPr/>
        </p:nvSpPr>
        <p:spPr>
          <a:xfrm>
            <a:off x="923544" y="2414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2004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leads fill one Excel template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cells only. SLA due dates, response status, and breach flags calculate themselves from the dates entered — no manual judgment call.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87368" y="365760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2584" y="2414016"/>
            <a:ext cx="566928" cy="566928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2414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32004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land in a dated folder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09160" y="39776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ATS_Data / 2026-09 / &lt;Portfolio Name&gt;.xlsx — that's the entire filing system.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36408" y="365760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13816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21624" y="2414016"/>
            <a:ext cx="566928" cy="566928"/>
          </a:xfrm>
          <a:prstGeom prst="ellipse">
            <a:avLst/>
          </a:prstGeom>
          <a:solidFill>
            <a:srgbClr val="0EA5A0"/>
          </a:solidFill>
          <a:ln/>
        </p:spPr>
      </p:sp>
      <p:sp>
        <p:nvSpPr>
          <p:cNvPr id="18" name="Text 16"/>
          <p:cNvSpPr/>
          <p:nvPr/>
        </p:nvSpPr>
        <p:spPr>
          <a:xfrm>
            <a:off x="8421624" y="2414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58200" y="32004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renders instantly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58200" y="39776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index.html, point it at the folder once, and every chart, KPI and trend line is live — accurate, and yours alone.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Program · Monthly Quality &amp; SLA Council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Screen, the Whole Program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 — what you land on every month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4114800"/>
          </a:xfrm>
          <a:prstGeom prst="roundRect">
            <a:avLst>
              <a:gd name="adj" fmla="val 2667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1417320" cy="3785616"/>
          </a:xfrm>
          <a:prstGeom prst="roundRect">
            <a:avLst>
              <a:gd name="adj" fmla="val 5161"/>
            </a:avLst>
          </a:prstGeom>
          <a:solidFill>
            <a:srgbClr val="0F1C3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75688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0EA5A0">
              <a:alpha val="2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20756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87552" y="25328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7552" y="29900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7552" y="3447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TSR Register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1755648"/>
            <a:ext cx="209854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9464" y="19202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EA5A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9464" y="2029968"/>
            <a:ext cx="1805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TSRs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69464" y="2212848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04588" y="1755648"/>
            <a:ext cx="209854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850892" y="19202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4850892" y="2029968"/>
            <a:ext cx="1805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50892" y="2212848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75.7%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986016" y="1755648"/>
            <a:ext cx="209854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9202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029968"/>
            <a:ext cx="1805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(FINES)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132320" y="2212848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267444" y="1755648"/>
            <a:ext cx="209854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413748" y="19202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16264F"/>
          </a:solidFill>
          <a:ln/>
        </p:spPr>
      </p:sp>
      <p:sp>
        <p:nvSpPr>
          <p:cNvPr id="25" name="Text 23"/>
          <p:cNvSpPr/>
          <p:nvPr/>
        </p:nvSpPr>
        <p:spPr>
          <a:xfrm>
            <a:off x="9413748" y="2029968"/>
            <a:ext cx="1805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HEALTH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413748" y="2212848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2423160" y="2880360"/>
            <a:ext cx="30175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624328" y="30266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TSR Outcome Split</a:t>
            </a:r>
            <a:endParaRPr lang="en-US" sz="11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2743200" y="3337560"/>
          <a:ext cx="23774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5641848" y="2880360"/>
            <a:ext cx="1804416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5769864" y="300837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9"/>
          <p:cNvSpPr/>
          <p:nvPr/>
        </p:nvSpPr>
        <p:spPr>
          <a:xfrm>
            <a:off x="5916168" y="2953512"/>
            <a:ext cx="139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Assessment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769864" y="3355848"/>
            <a:ext cx="1548384" cy="82296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/>
        </p:spPr>
      </p:sp>
      <p:sp>
        <p:nvSpPr>
          <p:cNvPr id="34" name="Shape 31"/>
          <p:cNvSpPr/>
          <p:nvPr/>
        </p:nvSpPr>
        <p:spPr>
          <a:xfrm>
            <a:off x="5769864" y="3355848"/>
            <a:ext cx="1548384" cy="8229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35" name="Text 32"/>
          <p:cNvSpPr/>
          <p:nvPr/>
        </p:nvSpPr>
        <p:spPr>
          <a:xfrm>
            <a:off x="5769864" y="3456432"/>
            <a:ext cx="1548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met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7592568" y="2880360"/>
            <a:ext cx="1804416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7720584" y="3008376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8" name="Text 35"/>
          <p:cNvSpPr/>
          <p:nvPr/>
        </p:nvSpPr>
        <p:spPr>
          <a:xfrm>
            <a:off x="7866888" y="2953512"/>
            <a:ext cx="139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720584" y="3355848"/>
            <a:ext cx="1548384" cy="82296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/>
        </p:spPr>
      </p:sp>
      <p:sp>
        <p:nvSpPr>
          <p:cNvPr id="40" name="Shape 37"/>
          <p:cNvSpPr/>
          <p:nvPr/>
        </p:nvSpPr>
        <p:spPr>
          <a:xfrm>
            <a:off x="7720584" y="3355848"/>
            <a:ext cx="1347094" cy="82296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41" name="Text 38"/>
          <p:cNvSpPr/>
          <p:nvPr/>
        </p:nvSpPr>
        <p:spPr>
          <a:xfrm>
            <a:off x="7720584" y="3456432"/>
            <a:ext cx="1548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met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9543288" y="2880360"/>
            <a:ext cx="1804416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</p:sp>
      <p:sp>
        <p:nvSpPr>
          <p:cNvPr id="43" name="Shape 40"/>
          <p:cNvSpPr/>
          <p:nvPr/>
        </p:nvSpPr>
        <p:spPr>
          <a:xfrm>
            <a:off x="9671304" y="3008376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44" name="Text 41"/>
          <p:cNvSpPr/>
          <p:nvPr/>
        </p:nvSpPr>
        <p:spPr>
          <a:xfrm>
            <a:off x="9817608" y="2953512"/>
            <a:ext cx="139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9671304" y="3355848"/>
            <a:ext cx="1548384" cy="82296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/>
        </p:spPr>
      </p:sp>
      <p:sp>
        <p:nvSpPr>
          <p:cNvPr id="46" name="Shape 43"/>
          <p:cNvSpPr/>
          <p:nvPr/>
        </p:nvSpPr>
        <p:spPr>
          <a:xfrm>
            <a:off x="9671304" y="3355848"/>
            <a:ext cx="1238707" cy="82296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47" name="Text 44"/>
          <p:cNvSpPr/>
          <p:nvPr/>
        </p:nvSpPr>
        <p:spPr>
          <a:xfrm>
            <a:off x="9671304" y="3456432"/>
            <a:ext cx="1548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met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641848" y="3813048"/>
            <a:ext cx="1804416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</p:sp>
      <p:sp>
        <p:nvSpPr>
          <p:cNvPr id="49" name="Shape 46"/>
          <p:cNvSpPr/>
          <p:nvPr/>
        </p:nvSpPr>
        <p:spPr>
          <a:xfrm>
            <a:off x="5769864" y="394106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7"/>
          <p:cNvSpPr/>
          <p:nvPr/>
        </p:nvSpPr>
        <p:spPr>
          <a:xfrm>
            <a:off x="5916168" y="3886200"/>
            <a:ext cx="139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Benefit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5769864" y="4288536"/>
            <a:ext cx="1548384" cy="82296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/>
        </p:spPr>
      </p:sp>
      <p:sp>
        <p:nvSpPr>
          <p:cNvPr id="52" name="Shape 49"/>
          <p:cNvSpPr/>
          <p:nvPr/>
        </p:nvSpPr>
        <p:spPr>
          <a:xfrm>
            <a:off x="5769864" y="4288536"/>
            <a:ext cx="929030" cy="822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53" name="Text 50"/>
          <p:cNvSpPr/>
          <p:nvPr/>
        </p:nvSpPr>
        <p:spPr>
          <a:xfrm>
            <a:off x="5769864" y="4389120"/>
            <a:ext cx="1548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met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7592568" y="3813048"/>
            <a:ext cx="1804416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</p:sp>
      <p:sp>
        <p:nvSpPr>
          <p:cNvPr id="55" name="Shape 52"/>
          <p:cNvSpPr/>
          <p:nvPr/>
        </p:nvSpPr>
        <p:spPr>
          <a:xfrm>
            <a:off x="7720584" y="3941064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6" name="Text 53"/>
          <p:cNvSpPr/>
          <p:nvPr/>
        </p:nvSpPr>
        <p:spPr>
          <a:xfrm>
            <a:off x="7866888" y="3886200"/>
            <a:ext cx="139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Decl.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7720584" y="4288536"/>
            <a:ext cx="1548384" cy="82296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/>
        </p:spPr>
      </p:sp>
      <p:sp>
        <p:nvSpPr>
          <p:cNvPr id="58" name="Shape 55"/>
          <p:cNvSpPr/>
          <p:nvPr/>
        </p:nvSpPr>
        <p:spPr>
          <a:xfrm>
            <a:off x="7720584" y="4288536"/>
            <a:ext cx="1548384" cy="8229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59" name="Text 56"/>
          <p:cNvSpPr/>
          <p:nvPr/>
        </p:nvSpPr>
        <p:spPr>
          <a:xfrm>
            <a:off x="7720584" y="4389120"/>
            <a:ext cx="1548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met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9543288" y="3813048"/>
            <a:ext cx="1804416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</p:sp>
      <p:sp>
        <p:nvSpPr>
          <p:cNvPr id="61" name="Shape 58"/>
          <p:cNvSpPr/>
          <p:nvPr/>
        </p:nvSpPr>
        <p:spPr>
          <a:xfrm>
            <a:off x="9671304" y="3941064"/>
            <a:ext cx="91440" cy="914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62" name="Text 59"/>
          <p:cNvSpPr/>
          <p:nvPr/>
        </p:nvSpPr>
        <p:spPr>
          <a:xfrm>
            <a:off x="9817608" y="3886200"/>
            <a:ext cx="139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Credits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9671304" y="4288536"/>
            <a:ext cx="1548384" cy="82296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/>
        </p:spPr>
      </p:sp>
      <p:sp>
        <p:nvSpPr>
          <p:cNvPr id="64" name="Shape 61"/>
          <p:cNvSpPr/>
          <p:nvPr/>
        </p:nvSpPr>
        <p:spPr>
          <a:xfrm>
            <a:off x="9671304" y="4288536"/>
            <a:ext cx="1207740" cy="82296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65" name="Text 62"/>
          <p:cNvSpPr/>
          <p:nvPr/>
        </p:nvSpPr>
        <p:spPr>
          <a:xfrm>
            <a:off x="9671304" y="4389120"/>
            <a:ext cx="1548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met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804672" y="5742432"/>
            <a:ext cx="10579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portfolio card, chart segment and leaderboard row is clickable — it opens straight into that portfolio's detail view.</a:t>
            </a:r>
            <a:endParaRPr lang="en-US" sz="1150" dirty="0"/>
          </a:p>
        </p:txBody>
      </p:sp>
      <p:sp>
        <p:nvSpPr>
          <p:cNvPr id="67" name="Text 6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Program · Monthly Quality &amp; SLA Council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Spotlight: the KPI Deep-Dive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KPIs, 8 tailored visuals — not one generic dropdown-and-bar-chart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6479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Leakage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0391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bar, best → worst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4709160" cy="146304"/>
          </a:xfrm>
          <a:prstGeom prst="roundRect">
            <a:avLst>
              <a:gd name="adj" fmla="val 18750"/>
            </a:avLst>
          </a:prstGeom>
          <a:solidFill>
            <a:srgbClr val="E9EDF3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23160"/>
            <a:ext cx="4332427" cy="146304"/>
          </a:xfrm>
          <a:prstGeom prst="roundRect">
            <a:avLst>
              <a:gd name="adj" fmla="val 18750"/>
            </a:avLst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697480"/>
            <a:ext cx="4709160" cy="146304"/>
          </a:xfrm>
          <a:prstGeom prst="roundRect">
            <a:avLst>
              <a:gd name="adj" fmla="val 18750"/>
            </a:avLst>
          </a:prstGeom>
          <a:solidFill>
            <a:srgbClr val="E9EDF3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697480"/>
            <a:ext cx="3202229" cy="146304"/>
          </a:xfrm>
          <a:prstGeom prst="roundRect">
            <a:avLst>
              <a:gd name="adj" fmla="val 18750"/>
            </a:avLst>
          </a:prstGeom>
          <a:solidFill>
            <a:srgbClr val="22C55E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971800"/>
            <a:ext cx="4709160" cy="146304"/>
          </a:xfrm>
          <a:prstGeom prst="roundRect">
            <a:avLst>
              <a:gd name="adj" fmla="val 18750"/>
            </a:avLst>
          </a:prstGeom>
          <a:solidFill>
            <a:srgbClr val="E9EDF3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971800"/>
            <a:ext cx="2354580" cy="146304"/>
          </a:xfrm>
          <a:prstGeom prst="roundRect">
            <a:avLst>
              <a:gd name="adj" fmla="val 18750"/>
            </a:avLst>
          </a:prstGeom>
          <a:solidFill>
            <a:srgbClr val="F5A524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246120"/>
            <a:ext cx="4709160" cy="146304"/>
          </a:xfrm>
          <a:prstGeom prst="roundRect">
            <a:avLst>
              <a:gd name="adj" fmla="val 18750"/>
            </a:avLst>
          </a:prstGeom>
          <a:solidFill>
            <a:srgbClr val="E9EDF3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246120"/>
            <a:ext cx="1506931" cy="146304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6291072" y="16002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5392" y="176479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Automated Testing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65392" y="20391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chart — target vs actual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65392" y="2423160"/>
            <a:ext cx="4002786" cy="182880"/>
          </a:xfrm>
          <a:prstGeom prst="roundRect">
            <a:avLst>
              <a:gd name="adj" fmla="val 15000"/>
            </a:avLst>
          </a:prstGeom>
          <a:solidFill>
            <a:srgbClr val="DCE1E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65392" y="2459736"/>
            <a:ext cx="4473702" cy="109728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65392" y="2734056"/>
            <a:ext cx="4002786" cy="182880"/>
          </a:xfrm>
          <a:prstGeom prst="roundRect">
            <a:avLst>
              <a:gd name="adj" fmla="val 15000"/>
            </a:avLst>
          </a:prstGeom>
          <a:solidFill>
            <a:srgbClr val="DCE1EA"/>
          </a:solidFill>
          <a:ln/>
        </p:spPr>
      </p:sp>
      <p:sp>
        <p:nvSpPr>
          <p:cNvPr id="21" name="Shape 19"/>
          <p:cNvSpPr/>
          <p:nvPr/>
        </p:nvSpPr>
        <p:spPr>
          <a:xfrm>
            <a:off x="6565392" y="2770632"/>
            <a:ext cx="3767328" cy="109728"/>
          </a:xfrm>
          <a:prstGeom prst="roundRect">
            <a:avLst>
              <a:gd name="adj" fmla="val 16667"/>
            </a:avLst>
          </a:prstGeom>
          <a:solidFill>
            <a:srgbClr val="F5A524"/>
          </a:solidFill>
          <a:ln/>
        </p:spPr>
      </p:sp>
      <p:sp>
        <p:nvSpPr>
          <p:cNvPr id="22" name="Shape 20"/>
          <p:cNvSpPr/>
          <p:nvPr/>
        </p:nvSpPr>
        <p:spPr>
          <a:xfrm>
            <a:off x="6565392" y="3044952"/>
            <a:ext cx="4002786" cy="182880"/>
          </a:xfrm>
          <a:prstGeom prst="roundRect">
            <a:avLst>
              <a:gd name="adj" fmla="val 15000"/>
            </a:avLst>
          </a:prstGeom>
          <a:solidFill>
            <a:srgbClr val="DCE1EA"/>
          </a:solidFill>
          <a:ln/>
        </p:spPr>
      </p:sp>
      <p:sp>
        <p:nvSpPr>
          <p:cNvPr id="23" name="Shape 21"/>
          <p:cNvSpPr/>
          <p:nvPr/>
        </p:nvSpPr>
        <p:spPr>
          <a:xfrm>
            <a:off x="6565392" y="3081528"/>
            <a:ext cx="2825496" cy="109728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7947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39593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14400" y="423367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 leaderboard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45628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458114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Assessment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97480" y="4636008"/>
            <a:ext cx="2926080" cy="91440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/>
        </p:spPr>
      </p:sp>
      <p:sp>
        <p:nvSpPr>
          <p:cNvPr id="30" name="Shape 28"/>
          <p:cNvSpPr/>
          <p:nvPr/>
        </p:nvSpPr>
        <p:spPr>
          <a:xfrm>
            <a:off x="2697480" y="4636008"/>
            <a:ext cx="2779776" cy="914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85546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34440" y="4873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Decl.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97480" y="4928616"/>
            <a:ext cx="2926080" cy="91440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/>
        </p:spPr>
      </p:sp>
      <p:sp>
        <p:nvSpPr>
          <p:cNvPr id="34" name="Shape 32"/>
          <p:cNvSpPr/>
          <p:nvPr/>
        </p:nvSpPr>
        <p:spPr>
          <a:xfrm>
            <a:off x="2697480" y="4928616"/>
            <a:ext cx="2574950" cy="914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14807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34440" y="5166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97480" y="5221224"/>
            <a:ext cx="2926080" cy="91440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/>
        </p:spPr>
      </p:sp>
      <p:sp>
        <p:nvSpPr>
          <p:cNvPr id="38" name="Shape 36"/>
          <p:cNvSpPr/>
          <p:nvPr/>
        </p:nvSpPr>
        <p:spPr>
          <a:xfrm>
            <a:off x="2697480" y="5221224"/>
            <a:ext cx="2340864" cy="9144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39" name="Shape 37"/>
          <p:cNvSpPr/>
          <p:nvPr/>
        </p:nvSpPr>
        <p:spPr>
          <a:xfrm>
            <a:off x="6291072" y="37947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565392" y="39593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Milestone Delays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565392" y="423367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tile grid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565392" y="4617720"/>
            <a:ext cx="1520952" cy="310896"/>
          </a:xfrm>
          <a:prstGeom prst="roundRect">
            <a:avLst>
              <a:gd name="adj" fmla="val 14706"/>
            </a:avLst>
          </a:prstGeom>
          <a:solidFill>
            <a:srgbClr val="D9F4E4"/>
          </a:solidFill>
          <a:ln/>
        </p:spPr>
      </p:sp>
      <p:sp>
        <p:nvSpPr>
          <p:cNvPr id="43" name="Text 41"/>
          <p:cNvSpPr/>
          <p:nvPr/>
        </p:nvSpPr>
        <p:spPr>
          <a:xfrm>
            <a:off x="6565392" y="4617720"/>
            <a:ext cx="152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59496" y="4617720"/>
            <a:ext cx="1520952" cy="310896"/>
          </a:xfrm>
          <a:prstGeom prst="roundRect">
            <a:avLst>
              <a:gd name="adj" fmla="val 14706"/>
            </a:avLst>
          </a:prstGeom>
          <a:solidFill>
            <a:srgbClr val="D9F4E4"/>
          </a:solidFill>
          <a:ln/>
        </p:spPr>
      </p:sp>
      <p:sp>
        <p:nvSpPr>
          <p:cNvPr id="45" name="Text 43"/>
          <p:cNvSpPr/>
          <p:nvPr/>
        </p:nvSpPr>
        <p:spPr>
          <a:xfrm>
            <a:off x="8159496" y="4617720"/>
            <a:ext cx="152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753600" y="4617720"/>
            <a:ext cx="1520952" cy="310896"/>
          </a:xfrm>
          <a:prstGeom prst="roundRect">
            <a:avLst>
              <a:gd name="adj" fmla="val 14706"/>
            </a:avLst>
          </a:prstGeom>
          <a:solidFill>
            <a:srgbClr val="FDECC8"/>
          </a:solidFill>
          <a:ln/>
        </p:spPr>
      </p:sp>
      <p:sp>
        <p:nvSpPr>
          <p:cNvPr id="47" name="Text 45"/>
          <p:cNvSpPr/>
          <p:nvPr/>
        </p:nvSpPr>
        <p:spPr>
          <a:xfrm>
            <a:off x="9753600" y="4617720"/>
            <a:ext cx="152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47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65392" y="5001768"/>
            <a:ext cx="1520952" cy="310896"/>
          </a:xfrm>
          <a:prstGeom prst="roundRect">
            <a:avLst>
              <a:gd name="adj" fmla="val 14706"/>
            </a:avLst>
          </a:prstGeom>
          <a:solidFill>
            <a:srgbClr val="D9F4E4"/>
          </a:solidFill>
          <a:ln/>
        </p:spPr>
      </p:sp>
      <p:sp>
        <p:nvSpPr>
          <p:cNvPr id="49" name="Text 47"/>
          <p:cNvSpPr/>
          <p:nvPr/>
        </p:nvSpPr>
        <p:spPr>
          <a:xfrm>
            <a:off x="6565392" y="5001768"/>
            <a:ext cx="152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159496" y="5001768"/>
            <a:ext cx="1520952" cy="310896"/>
          </a:xfrm>
          <a:prstGeom prst="roundRect">
            <a:avLst>
              <a:gd name="adj" fmla="val 14706"/>
            </a:avLst>
          </a:prstGeom>
          <a:solidFill>
            <a:srgbClr val="FBD8D5"/>
          </a:solidFill>
          <a:ln/>
        </p:spPr>
      </p:sp>
      <p:sp>
        <p:nvSpPr>
          <p:cNvPr id="51" name="Text 49"/>
          <p:cNvSpPr/>
          <p:nvPr/>
        </p:nvSpPr>
        <p:spPr>
          <a:xfrm>
            <a:off x="8159496" y="5001768"/>
            <a:ext cx="152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753600" y="5001768"/>
            <a:ext cx="1520952" cy="310896"/>
          </a:xfrm>
          <a:prstGeom prst="roundRect">
            <a:avLst>
              <a:gd name="adj" fmla="val 14706"/>
            </a:avLst>
          </a:prstGeom>
          <a:solidFill>
            <a:srgbClr val="FDECC8"/>
          </a:solidFill>
          <a:ln/>
        </p:spPr>
      </p:sp>
      <p:sp>
        <p:nvSpPr>
          <p:cNvPr id="53" name="Text 51"/>
          <p:cNvSpPr/>
          <p:nvPr/>
        </p:nvSpPr>
        <p:spPr>
          <a:xfrm>
            <a:off x="9753600" y="5001768"/>
            <a:ext cx="152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47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65392" y="5385816"/>
            <a:ext cx="1520952" cy="310896"/>
          </a:xfrm>
          <a:prstGeom prst="roundRect">
            <a:avLst>
              <a:gd name="adj" fmla="val 14706"/>
            </a:avLst>
          </a:prstGeom>
          <a:solidFill>
            <a:srgbClr val="D9F4E4"/>
          </a:solidFill>
          <a:ln/>
        </p:spPr>
      </p:sp>
      <p:sp>
        <p:nvSpPr>
          <p:cNvPr id="55" name="Text 53"/>
          <p:cNvSpPr/>
          <p:nvPr/>
        </p:nvSpPr>
        <p:spPr>
          <a:xfrm>
            <a:off x="6565392" y="5385816"/>
            <a:ext cx="152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159496" y="5385816"/>
            <a:ext cx="1520952" cy="310896"/>
          </a:xfrm>
          <a:prstGeom prst="roundRect">
            <a:avLst>
              <a:gd name="adj" fmla="val 14706"/>
            </a:avLst>
          </a:prstGeom>
          <a:solidFill>
            <a:srgbClr val="FDECC8"/>
          </a:solidFill>
          <a:ln/>
        </p:spPr>
      </p:sp>
      <p:sp>
        <p:nvSpPr>
          <p:cNvPr id="57" name="Text 55"/>
          <p:cNvSpPr/>
          <p:nvPr/>
        </p:nvSpPr>
        <p:spPr>
          <a:xfrm>
            <a:off x="8159496" y="5385816"/>
            <a:ext cx="152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47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753600" y="5385816"/>
            <a:ext cx="1520952" cy="310896"/>
          </a:xfrm>
          <a:prstGeom prst="roundRect">
            <a:avLst>
              <a:gd name="adj" fmla="val 14706"/>
            </a:avLst>
          </a:prstGeom>
          <a:solidFill>
            <a:srgbClr val="D9F4E4"/>
          </a:solidFill>
          <a:ln/>
        </p:spPr>
      </p:sp>
      <p:sp>
        <p:nvSpPr>
          <p:cNvPr id="59" name="Text 57"/>
          <p:cNvSpPr/>
          <p:nvPr/>
        </p:nvSpPr>
        <p:spPr>
          <a:xfrm>
            <a:off x="9753600" y="5385816"/>
            <a:ext cx="152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is shown the way it's actually used — a target-vs-actual bullet for automation coverage, a heatmap for rare delay counts, a leaderboard for a score that should feel like one.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Program · Monthly Quality &amp; SLA Council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Metric Where Being Wrong Costs Money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TSR breach means a contractual fine. So nobody judges it by eye — the workbook does.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450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ENTER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28803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4B8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Received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4747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4B8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Responded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8620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26280" y="219456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0F1C3F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450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CALCULATES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971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E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=IF(Responded &gt; Due,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E7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"SLA Overdue", "SLA Met")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4069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workbook, every month — same formula, zero exceptions.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412480" y="2194560"/>
            <a:ext cx="3136392" cy="2377440"/>
          </a:xfrm>
          <a:prstGeom prst="roundRect">
            <a:avLst>
              <a:gd name="adj" fmla="val 4615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25400" dir="5400000">
              <a:srgbClr val="10182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41080" y="2450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GET, AUTOMATICALLY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41080" y="28803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778240" y="3063240"/>
            <a:ext cx="91440" cy="91440"/>
          </a:xfrm>
          <a:prstGeom prst="ellipse">
            <a:avLst/>
          </a:prstGeom>
          <a:solidFill>
            <a:srgbClr val="16264F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Due Date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41080" y="34747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778240" y="365760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Status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41080" y="406908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778240" y="425196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Flag (fine risk)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dropdown to misjudge. No "I think this one was late." The same accuracy standard, across all 16+ portfolios, every single month.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Program · Monthly Quality &amp; SLA Council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6400800"/>
          </a:xfrm>
          <a:prstGeom prst="ellipse">
            <a:avLst/>
          </a:prstGeom>
          <a:solidFill>
            <a:srgbClr val="0EA5A0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8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see it live.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now to the ATS Live Cockpit — running entirely offline, on this machine, from this month's Excel files.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2026-09-20T09:28:15Z</dcterms:created>
  <dcterms:modified xsi:type="dcterms:W3CDTF">2026-09-20T09:28:15Z</dcterms:modified>
</cp:coreProperties>
</file>